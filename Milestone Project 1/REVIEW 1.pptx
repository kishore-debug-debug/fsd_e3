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9" r:id="rId11"/>
    <p:sldId id="267" r:id="rId12"/>
    <p:sldId id="268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45BA5-991D-424D-B830-4FBA365F116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17CB0-09BD-4C98-B7B6-ACE83014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246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17CB0-09BD-4C98-B7B6-ACE83014D5B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049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24-03-2026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623291" y="6118141"/>
            <a:ext cx="157841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Responsive E- Commerce Interface with State-Persistent Cart</a:t>
            </a:r>
            <a:r>
              <a:rPr lang="en-GB" sz="32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</a:t>
            </a:r>
          </a:p>
          <a:p>
            <a:pPr algn="ctr"/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KISHORE S – VTU24452 – 23UECS0769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933768"/>
            <a:ext cx="15082325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Background of the Problem</a:t>
            </a:r>
            <a:endParaRPr lang="en-GB" sz="2800" dirty="0"/>
          </a:p>
          <a:p>
            <a:r>
              <a:rPr lang="en-US" sz="2800" dirty="0"/>
              <a:t>Many e-commerce websites do not save cart items when users refresh the page or leave the website. This causes inconvenience and poor user experience during online shopping.</a:t>
            </a:r>
          </a:p>
          <a:p>
            <a:endParaRPr lang="en-US" sz="2800" dirty="0"/>
          </a:p>
          <a:p>
            <a:r>
              <a:rPr lang="en-GB" sz="2800" b="1" dirty="0"/>
              <a:t>Importance of the Project</a:t>
            </a:r>
            <a:endParaRPr lang="en-GB" sz="2800" dirty="0"/>
          </a:p>
          <a:p>
            <a:r>
              <a:rPr lang="en-US" sz="2800" dirty="0"/>
              <a:t>A responsive e-commerce system allows users to easily browse and buy products from any device. A persistent cart helps users keep their selected items without losing them.</a:t>
            </a:r>
          </a:p>
          <a:p>
            <a:endParaRPr lang="en-US" sz="2800" dirty="0"/>
          </a:p>
          <a:p>
            <a:r>
              <a:rPr lang="en-GB" sz="2800" b="1" dirty="0"/>
              <a:t>Real-World Relevance</a:t>
            </a:r>
            <a:endParaRPr lang="en-GB" sz="2800" dirty="0"/>
          </a:p>
          <a:p>
            <a:r>
              <a:rPr lang="en-US" sz="2800" dirty="0"/>
              <a:t>Online shopping is growing rapidly, and efficient cart management improves customer satisfaction and website usability.</a:t>
            </a:r>
          </a:p>
          <a:p>
            <a:endParaRPr lang="en-GB" sz="2800" b="1" dirty="0"/>
          </a:p>
          <a:p>
            <a:r>
              <a:rPr lang="en-GB" sz="2800" b="1" dirty="0"/>
              <a:t>System Overview</a:t>
            </a:r>
          </a:p>
          <a:p>
            <a:r>
              <a:rPr lang="en-US" sz="2800" dirty="0"/>
              <a:t>The proposed system is a Responsive E-Commerce Web Application with a Persistent Cart built using HTML, CSS, JavaScript , and MySQL with PHP to manage products, users, and shopping cart data efficiently.</a:t>
            </a:r>
            <a:endParaRPr lang="en-GB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54166" y="2006862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Problem Statement</a:t>
            </a:r>
          </a:p>
          <a:p>
            <a:endParaRPr lang="en-GB" sz="2800" dirty="0"/>
          </a:p>
          <a:p>
            <a:pPr marL="720000" indent="-457200">
              <a:buFont typeface="Arial" panose="020B0604020202020204" pitchFamily="34" charset="0"/>
              <a:buChar char="•"/>
            </a:pPr>
            <a:r>
              <a:rPr lang="en-US" sz="2800" dirty="0"/>
              <a:t>Many e-commerce websites do not maintain cart items when users refresh the page or leave the website.</a:t>
            </a:r>
          </a:p>
          <a:p>
            <a:pPr marL="262800"/>
            <a:endParaRPr lang="en-US" sz="2800" dirty="0"/>
          </a:p>
          <a:p>
            <a:pPr marL="720000" indent="-457200">
              <a:buFont typeface="Arial" panose="020B0604020202020204" pitchFamily="34" charset="0"/>
              <a:buChar char="•"/>
            </a:pPr>
            <a:r>
              <a:rPr lang="en-US" sz="2800" dirty="0"/>
              <a:t>Users often lose their selected products, which leads to a poor shopping experience.</a:t>
            </a:r>
          </a:p>
          <a:p>
            <a:pPr marL="262800"/>
            <a:endParaRPr lang="en-US" sz="2800" dirty="0"/>
          </a:p>
          <a:p>
            <a:pPr marL="720000" indent="-457200">
              <a:buFont typeface="Arial" panose="020B0604020202020204" pitchFamily="34" charset="0"/>
              <a:buChar char="•"/>
            </a:pPr>
            <a:r>
              <a:rPr lang="en-US" sz="2800" dirty="0"/>
              <a:t>Some online stores are not fully responsive, making it difficult to use them on mobile devices.</a:t>
            </a:r>
          </a:p>
          <a:p>
            <a:pPr marL="262800"/>
            <a:endParaRPr lang="en-US" sz="2800" dirty="0"/>
          </a:p>
          <a:p>
            <a:pPr marL="7200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results in inconvenience and reduced user satisfaction during online shopping.</a:t>
            </a:r>
          </a:p>
          <a:p>
            <a:pPr marL="262800"/>
            <a:endParaRPr lang="en-US" sz="2800" dirty="0"/>
          </a:p>
          <a:p>
            <a:pPr marL="7200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is a need for a responsive e-commerce platform with a persistent cart that keeps items saved for users.</a:t>
            </a:r>
          </a:p>
          <a:p>
            <a:pPr marL="262800"/>
            <a:endParaRPr lang="en-US" sz="2800" dirty="0"/>
          </a:p>
          <a:p>
            <a:pPr marL="7200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should provide smooth navigation, reliable cart management, and an easy shopping experience.</a:t>
            </a:r>
            <a:endParaRPr lang="en-GB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21274" y="2181907"/>
            <a:ext cx="1508232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Objectives</a:t>
            </a:r>
          </a:p>
          <a:p>
            <a:endParaRPr lang="en-GB" sz="3200" b="1" dirty="0"/>
          </a:p>
          <a:p>
            <a:r>
              <a:rPr lang="en-US" sz="2800" dirty="0"/>
              <a:t>1. To design and develop a responsive e-commerce web application that allows users to browse products and purchase items easily across different devices.</a:t>
            </a:r>
          </a:p>
          <a:p>
            <a:endParaRPr lang="en-US" sz="2800" dirty="0"/>
          </a:p>
          <a:p>
            <a:r>
              <a:rPr lang="en-US" sz="2800" dirty="0"/>
              <a:t>2. To implement a persistent shopping cart system that saves selected items even after page refresh or when the user leaves the website, improving the overall shopping experience.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057400" y="1982349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Proposed Solution:</a:t>
            </a:r>
          </a:p>
          <a:p>
            <a:endParaRPr lang="en-IN" sz="2800" b="1" dirty="0"/>
          </a:p>
          <a:p>
            <a:pPr marL="720000" indent="-514350">
              <a:buFont typeface="+mj-lt"/>
              <a:buAutoNum type="arabicPeriod"/>
            </a:pPr>
            <a:r>
              <a:rPr lang="en-US" sz="2800" dirty="0"/>
              <a:t>Develop a responsive e-commerce web application for easy online shopping.</a:t>
            </a:r>
          </a:p>
          <a:p>
            <a:pPr marL="205650"/>
            <a:endParaRPr lang="en-US" sz="2800" dirty="0"/>
          </a:p>
          <a:p>
            <a:r>
              <a:rPr lang="en-US" sz="2800" dirty="0"/>
              <a:t>  2.  Provide a platform where users can browse products and add items to the cart.</a:t>
            </a:r>
          </a:p>
          <a:p>
            <a:endParaRPr lang="en-US" sz="2800" dirty="0"/>
          </a:p>
          <a:p>
            <a:r>
              <a:rPr lang="en-US" sz="2800" dirty="0"/>
              <a:t>  3.  Implement a persistent cart to save items even after page refresh or logout.</a:t>
            </a:r>
          </a:p>
          <a:p>
            <a:endParaRPr lang="en-US" sz="2800" dirty="0"/>
          </a:p>
          <a:p>
            <a:r>
              <a:rPr lang="en-US" sz="2800" dirty="0"/>
              <a:t>  4.  Allow users to search, select, and manage products easily.</a:t>
            </a:r>
          </a:p>
          <a:p>
            <a:endParaRPr lang="en-US" sz="2800" dirty="0"/>
          </a:p>
          <a:p>
            <a:r>
              <a:rPr lang="en-US" sz="2800" dirty="0"/>
              <a:t>  5.  Store and manage product and user data using a MySQL database.</a:t>
            </a:r>
          </a:p>
          <a:p>
            <a:endParaRPr lang="en-US" sz="2800" dirty="0"/>
          </a:p>
          <a:p>
            <a:r>
              <a:rPr lang="en-US" sz="2800" dirty="0"/>
              <a:t>  6.  Build a responsive interface using HTML, CSS, and JavaScript for smooth user experience.</a:t>
            </a:r>
          </a:p>
          <a:p>
            <a:endParaRPr lang="en-US" sz="2800" dirty="0"/>
          </a:p>
          <a:p>
            <a:r>
              <a:rPr lang="en-US" sz="2800" dirty="0"/>
              <a:t>  7.  Ensure simple navigation and efficient cart management for better shopping experience. 	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5E4EC-03F0-868A-9395-B265B2B19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720" y="1790700"/>
            <a:ext cx="8822356" cy="70425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B6CE88-3C0A-3E9C-6350-90B875B7BCB8}"/>
              </a:ext>
            </a:extLst>
          </p:cNvPr>
          <p:cNvSpPr txBox="1"/>
          <p:nvPr/>
        </p:nvSpPr>
        <p:spPr>
          <a:xfrm>
            <a:off x="10972800" y="1486490"/>
            <a:ext cx="7086600" cy="855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b="1" dirty="0"/>
              <a:t>INPUT</a:t>
            </a:r>
          </a:p>
          <a:p>
            <a:r>
              <a:rPr lang="en-US" sz="2500" dirty="0"/>
              <a:t>Users interact via a frontend built with HTML, CSS, and JavaScript. They can register, log in, browse products, add items to the cart, and place orders.</a:t>
            </a:r>
          </a:p>
          <a:p>
            <a:endParaRPr lang="en-US" sz="2500" dirty="0"/>
          </a:p>
          <a:p>
            <a:r>
              <a:rPr lang="en-GB" sz="2500" b="1" dirty="0"/>
              <a:t>PROCESSING</a:t>
            </a:r>
          </a:p>
          <a:p>
            <a:r>
              <a:rPr lang="en-US" sz="2500" dirty="0"/>
              <a:t>The frontend sends requests to the PHP backend server. The server handles authentication, manages cart data, and executes database operations using </a:t>
            </a:r>
            <a:r>
              <a:rPr lang="en-US" sz="2500" dirty="0" err="1"/>
              <a:t>MySQLi</a:t>
            </a:r>
            <a:r>
              <a:rPr lang="en-US" sz="2500" dirty="0"/>
              <a:t> prepared statements.</a:t>
            </a:r>
          </a:p>
          <a:p>
            <a:endParaRPr lang="en-US" sz="2500" dirty="0"/>
          </a:p>
          <a:p>
            <a:r>
              <a:rPr lang="en-GB" sz="2500" b="1" dirty="0"/>
              <a:t>DATABASE</a:t>
            </a:r>
          </a:p>
          <a:p>
            <a:r>
              <a:rPr lang="en-US" sz="2500" dirty="0"/>
              <a:t>User details, product information, cart data, and order records are stored in a MySQL database named ecommerce across five tables — users, products, carts, orders, and </a:t>
            </a:r>
            <a:r>
              <a:rPr lang="en-US" sz="2500" dirty="0" err="1"/>
              <a:t>order_items</a:t>
            </a:r>
            <a:r>
              <a:rPr lang="en-US" sz="2500" dirty="0"/>
              <a:t>.</a:t>
            </a:r>
          </a:p>
          <a:p>
            <a:endParaRPr lang="en-GB" sz="2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sz="2500" b="1" dirty="0"/>
              <a:t>OUTPUT</a:t>
            </a:r>
          </a:p>
          <a:p>
            <a:r>
              <a:rPr lang="en-US" sz="2500" dirty="0"/>
              <a:t>The server sends responses to the frontend displaying products, cart items, order history, and delivery status to users, and product management with order tracking to the admin.</a:t>
            </a:r>
            <a:endParaRPr lang="en-IN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104D86-638B-4048-91EE-C723218EE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485900"/>
            <a:ext cx="14614646" cy="82604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81200" y="1307830"/>
            <a:ext cx="15082325" cy="1344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/>
          </a:p>
          <a:p>
            <a:r>
              <a:rPr lang="en-IN" sz="2800" b="1" dirty="0"/>
              <a:t>Frontend:</a:t>
            </a:r>
            <a:br>
              <a:rPr lang="en-IN" sz="2800" dirty="0"/>
            </a:b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HTML5, CSS3, JavaScript</a:t>
            </a:r>
          </a:p>
          <a:p>
            <a:endParaRPr lang="en-I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2800" b="1" dirty="0"/>
              <a:t>Backend:</a:t>
            </a:r>
          </a:p>
          <a:p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phpMyAdmin , </a:t>
            </a:r>
            <a:r>
              <a:rPr lang="en-IN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MySQLi</a:t>
            </a:r>
            <a:endParaRPr lang="en-I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2800" b="1" dirty="0"/>
              <a:t>Database:</a:t>
            </a:r>
            <a:br>
              <a:rPr lang="en-IN" sz="2800" dirty="0"/>
            </a:b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MySQL 8</a:t>
            </a:r>
          </a:p>
          <a:p>
            <a:endParaRPr lang="en-I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2800" b="1" dirty="0"/>
              <a:t>Tools:</a:t>
            </a:r>
            <a:br>
              <a:rPr lang="en-IN" sz="2800" dirty="0"/>
            </a:b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Visual Studio Code </a:t>
            </a:r>
            <a:r>
              <a:rPr lang="en-IN" sz="2800">
                <a:solidFill>
                  <a:schemeClr val="tx1">
                    <a:lumMod val="65000"/>
                    <a:lumOff val="35000"/>
                  </a:schemeClr>
                </a:solidFill>
              </a:rPr>
              <a:t>, Notepad++ </a:t>
            </a: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XAMPP , phpMyAdmin</a:t>
            </a:r>
          </a:p>
          <a:p>
            <a:endParaRPr lang="en-I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2800" b="1" dirty="0"/>
              <a:t>Hardware/Software Requirements:</a:t>
            </a:r>
            <a:br>
              <a:rPr lang="en-IN" sz="2800" dirty="0"/>
            </a:b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Processor: Intel i3 or above</a:t>
            </a:r>
            <a:b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RAM: 4GB minimum</a:t>
            </a:r>
            <a:b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Operating System: Windows / Linux / macOS</a:t>
            </a:r>
            <a:b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 Browser: Chrome / Edge / Firefox / Safari</a:t>
            </a:r>
          </a:p>
          <a:p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Space: 2GB minimum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586553-0F26-7AAD-BCBA-FFBFF73D4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721" y="1967415"/>
            <a:ext cx="11781314" cy="56789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251199-6968-5C7F-C7B4-ACD5237DC177}"/>
              </a:ext>
            </a:extLst>
          </p:cNvPr>
          <p:cNvSpPr txBox="1"/>
          <p:nvPr/>
        </p:nvSpPr>
        <p:spPr>
          <a:xfrm>
            <a:off x="3657600" y="8253668"/>
            <a:ext cx="9829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1: Landing page</a:t>
            </a: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E8776C-BAF5-B7AD-080C-154AF95A3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440" y="1695376"/>
            <a:ext cx="7445160" cy="5353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34D566-D0F0-E6A4-231D-BC8EC45FB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4141" y="1695376"/>
            <a:ext cx="7872185" cy="53531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F624FA-AD4B-FA6F-75C3-EC96BFB0CC52}"/>
              </a:ext>
            </a:extLst>
          </p:cNvPr>
          <p:cNvSpPr txBox="1"/>
          <p:nvPr/>
        </p:nvSpPr>
        <p:spPr>
          <a:xfrm>
            <a:off x="2797429" y="7899126"/>
            <a:ext cx="12877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2: User Management</a:t>
            </a:r>
          </a:p>
          <a:p>
            <a:r>
              <a:rPr lang="en-US" sz="2800" dirty="0"/>
              <a:t>Handles user registration, login, and authentication for secure access to the website.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DF8833-D7B3-99C6-E413-D98980540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1821152"/>
            <a:ext cx="7699480" cy="53289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88EF8B-E6DA-2FFE-1EC5-BCC268D25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1821152"/>
            <a:ext cx="7485772" cy="53289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437E5F-48E1-0CEA-3938-3A0192D94EB7}"/>
              </a:ext>
            </a:extLst>
          </p:cNvPr>
          <p:cNvSpPr txBox="1"/>
          <p:nvPr/>
        </p:nvSpPr>
        <p:spPr>
          <a:xfrm>
            <a:off x="2743200" y="8039100"/>
            <a:ext cx="12420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3: Product Management</a:t>
            </a:r>
          </a:p>
          <a:p>
            <a:r>
              <a:rPr lang="en-US" sz="2800" dirty="0"/>
              <a:t>Allows users to browse, search, and view products available in the online store.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877600-0514-14F2-3166-D0DD99435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523" y="1765773"/>
            <a:ext cx="7444271" cy="53589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1E9415-A075-22F2-CAD9-4FF6526FF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044" y="1765773"/>
            <a:ext cx="7444271" cy="53589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8BC676-184E-2F04-619B-4C91CCEE3EE4}"/>
              </a:ext>
            </a:extLst>
          </p:cNvPr>
          <p:cNvSpPr txBox="1"/>
          <p:nvPr/>
        </p:nvSpPr>
        <p:spPr>
          <a:xfrm>
            <a:off x="2690496" y="8065851"/>
            <a:ext cx="138105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4: Checkout &amp; Order Management</a:t>
            </a:r>
          </a:p>
          <a:p>
            <a:r>
              <a:rPr lang="en-US" sz="2800" dirty="0"/>
              <a:t>Handles the checkout process, payment, and order confirmation for purchased products.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0B3D9-29CB-1196-F2D5-25240C1391AB}"/>
              </a:ext>
            </a:extLst>
          </p:cNvPr>
          <p:cNvSpPr txBox="1"/>
          <p:nvPr/>
        </p:nvSpPr>
        <p:spPr>
          <a:xfrm>
            <a:off x="2006210" y="1982349"/>
            <a:ext cx="1530404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ADVANTAGES:</a:t>
            </a:r>
          </a:p>
          <a:p>
            <a:endParaRPr lang="en-US" sz="2800" b="1" dirty="0"/>
          </a:p>
          <a:p>
            <a:r>
              <a:rPr lang="en-US" sz="2800" dirty="0"/>
              <a:t>1. Provides a user-friendly and responsive shopping interface.</a:t>
            </a:r>
          </a:p>
          <a:p>
            <a:r>
              <a:rPr lang="en-US" sz="2800" dirty="0"/>
              <a:t>2. Persistent cart saves items even after page refresh or logout.</a:t>
            </a:r>
          </a:p>
          <a:p>
            <a:r>
              <a:rPr lang="en-US" sz="2800" dirty="0"/>
              <a:t>3. Allows users to easily browse, search, and manage products.</a:t>
            </a:r>
          </a:p>
          <a:p>
            <a:r>
              <a:rPr lang="en-US" sz="2800" dirty="0"/>
              <a:t>4. Improves user experience and convenience in online shopping.</a:t>
            </a:r>
          </a:p>
          <a:p>
            <a:endParaRPr lang="en-US" sz="2800" dirty="0"/>
          </a:p>
          <a:p>
            <a:r>
              <a:rPr lang="en-US" sz="2800" b="1" dirty="0"/>
              <a:t>LIMITATIONS:</a:t>
            </a:r>
          </a:p>
          <a:p>
            <a:endParaRPr lang="en-US" sz="2800" b="1" dirty="0"/>
          </a:p>
          <a:p>
            <a:r>
              <a:rPr lang="en-US" sz="2800" dirty="0"/>
              <a:t>1.Limited features compared to large commercial e-commerce platforms.</a:t>
            </a:r>
          </a:p>
          <a:p>
            <a:r>
              <a:rPr lang="en-US" sz="2800" dirty="0"/>
              <a:t>2.Security and payment integration may need further improvement.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959</Words>
  <Application>Microsoft Office PowerPoint</Application>
  <PresentationFormat>Custom</PresentationFormat>
  <Paragraphs>229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Times New Roman</vt:lpstr>
      <vt:lpstr>Cambria</vt:lpstr>
      <vt:lpstr>Gotham</vt:lpstr>
      <vt:lpstr>Bookman Old Style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KISHORE</dc:creator>
  <cp:lastModifiedBy>kisho1902@outlook.com</cp:lastModifiedBy>
  <cp:revision>23</cp:revision>
  <dcterms:created xsi:type="dcterms:W3CDTF">2006-08-16T00:00:00Z</dcterms:created>
  <dcterms:modified xsi:type="dcterms:W3CDTF">2026-03-24T03:33:19Z</dcterms:modified>
  <dc:identifier>DAHCaYqJ9OU</dc:identifier>
</cp:coreProperties>
</file>